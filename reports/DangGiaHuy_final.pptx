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aven Pro Bold" charset="1" panose="00000800000000000000"/>
      <p:regular r:id="rId22"/>
    </p:embeddedFont>
    <p:embeddedFont>
      <p:font typeface="Maven Pro" charset="1" panose="00000500000000000000"/>
      <p:regular r:id="rId23"/>
    </p:embeddedFont>
    <p:embeddedFont>
      <p:font typeface="Faustina Bold" charset="1" panose="00000800000000000000"/>
      <p:regular r:id="rId24"/>
    </p:embeddedFont>
    <p:embeddedFont>
      <p:font typeface="Faustina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1600" y="-153702"/>
            <a:ext cx="16363038" cy="8520557"/>
            <a:chOff x="0" y="0"/>
            <a:chExt cx="4309607" cy="2244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09607" cy="2244097"/>
            </a:xfrm>
            <a:custGeom>
              <a:avLst/>
              <a:gdLst/>
              <a:ahLst/>
              <a:cxnLst/>
              <a:rect r="r" b="b" t="t" l="l"/>
              <a:pathLst>
                <a:path h="2244097" w="4309607">
                  <a:moveTo>
                    <a:pt x="0" y="0"/>
                  </a:moveTo>
                  <a:lnTo>
                    <a:pt x="4309607" y="0"/>
                  </a:lnTo>
                  <a:lnTo>
                    <a:pt x="4309607" y="2244097"/>
                  </a:lnTo>
                  <a:lnTo>
                    <a:pt x="0" y="22440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09607" cy="228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-350272" y="9277350"/>
            <a:ext cx="1475720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-723249" y="2257023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2268" y="3767445"/>
            <a:ext cx="14727032" cy="279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b="true" sz="5700" spc="-228">
                <a:solidFill>
                  <a:srgbClr val="415A7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ĐỀ TÀI C5:</a:t>
            </a:r>
          </a:p>
          <a:p>
            <a:pPr algn="l">
              <a:lnSpc>
                <a:spcPts val="7410"/>
              </a:lnSpc>
            </a:pPr>
            <a:r>
              <a:rPr lang="en-US" sz="5700" spc="-228">
                <a:solidFill>
                  <a:srgbClr val="415A77"/>
                </a:solidFill>
                <a:latin typeface="Maven Pro"/>
                <a:ea typeface="Maven Pro"/>
                <a:cs typeface="Maven Pro"/>
                <a:sym typeface="Maven Pro"/>
              </a:rPr>
              <a:t>NÉN TÍN HIỆU PPG CÓ RÀNG BUỘC PHỔ PHỤC VỤ ƯỚC LƯỢNG NHỊP TIM VÀ TẦN SỐ HÔ HẤP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1951" y="8814435"/>
            <a:ext cx="60844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B263B"/>
                </a:solidFill>
                <a:latin typeface="Maven Pro"/>
                <a:ea typeface="Maven Pro"/>
                <a:cs typeface="Maven Pro"/>
                <a:sym typeface="Maven Pro"/>
              </a:rPr>
              <a:t>Giản</a:t>
            </a:r>
            <a:r>
              <a:rPr lang="en-US" sz="2399">
                <a:solidFill>
                  <a:srgbClr val="1B263B"/>
                </a:solidFill>
                <a:latin typeface="Maven Pro"/>
                <a:ea typeface="Maven Pro"/>
                <a:cs typeface="Maven Pro"/>
                <a:sym typeface="Maven Pro"/>
              </a:rPr>
              <a:t>g viên hướng dẫn:</a:t>
            </a:r>
            <a:r>
              <a:rPr lang="en-US" sz="2399" b="true">
                <a:solidFill>
                  <a:srgbClr val="1B263B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Hồ Nhựt Minh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66695" y="8786495"/>
            <a:ext cx="661279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B263B"/>
                </a:solidFill>
                <a:latin typeface="Maven Pro"/>
                <a:ea typeface="Maven Pro"/>
                <a:cs typeface="Maven Pro"/>
                <a:sym typeface="Maven Pro"/>
              </a:rPr>
              <a:t>Si</a:t>
            </a:r>
            <a:r>
              <a:rPr lang="en-US" sz="2399">
                <a:solidFill>
                  <a:srgbClr val="1B263B"/>
                </a:solidFill>
                <a:latin typeface="Maven Pro"/>
                <a:ea typeface="Maven Pro"/>
                <a:cs typeface="Maven Pro"/>
                <a:sym typeface="Maven Pro"/>
              </a:rPr>
              <a:t>nh viên thực hiện: </a:t>
            </a:r>
            <a:r>
              <a:rPr lang="en-US" sz="2399" b="true">
                <a:solidFill>
                  <a:srgbClr val="1B263B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Đặng Gia Huy _23110101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46401" y="1059638"/>
            <a:ext cx="14008423" cy="1546672"/>
            <a:chOff x="0" y="0"/>
            <a:chExt cx="18677897" cy="2062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7564" cy="2062229"/>
            </a:xfrm>
            <a:custGeom>
              <a:avLst/>
              <a:gdLst/>
              <a:ahLst/>
              <a:cxnLst/>
              <a:rect r="r" b="b" t="t" l="l"/>
              <a:pathLst>
                <a:path h="2062229" w="1607564">
                  <a:moveTo>
                    <a:pt x="0" y="0"/>
                  </a:moveTo>
                  <a:lnTo>
                    <a:pt x="1607564" y="0"/>
                  </a:lnTo>
                  <a:lnTo>
                    <a:pt x="1607564" y="2062229"/>
                  </a:lnTo>
                  <a:lnTo>
                    <a:pt x="0" y="2062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7444" y="78956"/>
              <a:ext cx="16390454" cy="792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00"/>
                </a:lnSpc>
              </a:pPr>
              <a:r>
                <a:rPr lang="en-US" b="true" sz="3500" spc="-87">
                  <a:solidFill>
                    <a:srgbClr val="000000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TRƯỜNG ĐẠI HỌC CÔNG NGHỆ KỸ THUẬT TP HỒ CHÍ MINH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287444" y="1062928"/>
              <a:ext cx="14033802" cy="792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00"/>
                </a:lnSpc>
              </a:pPr>
              <a:r>
                <a:rPr lang="en-US" b="true" sz="3500" spc="-87">
                  <a:solidFill>
                    <a:srgbClr val="000000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MÔN HỌC: TRÍ TUỆ NHÂN TẠO CHO IOT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66012" y="8803790"/>
            <a:ext cx="13451137" cy="1483210"/>
            <a:chOff x="0" y="0"/>
            <a:chExt cx="3542686" cy="390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686" cy="390640"/>
            </a:xfrm>
            <a:custGeom>
              <a:avLst/>
              <a:gdLst/>
              <a:ahLst/>
              <a:cxnLst/>
              <a:rect r="r" b="b" t="t" l="l"/>
              <a:pathLst>
                <a:path h="390640" w="3542686">
                  <a:moveTo>
                    <a:pt x="57556" y="0"/>
                  </a:moveTo>
                  <a:lnTo>
                    <a:pt x="3485131" y="0"/>
                  </a:lnTo>
                  <a:cubicBezTo>
                    <a:pt x="3516918" y="0"/>
                    <a:pt x="3542686" y="25769"/>
                    <a:pt x="3542686" y="57556"/>
                  </a:cubicBezTo>
                  <a:lnTo>
                    <a:pt x="3542686" y="333084"/>
                  </a:lnTo>
                  <a:cubicBezTo>
                    <a:pt x="3542686" y="364871"/>
                    <a:pt x="3516918" y="390640"/>
                    <a:pt x="3485131" y="390640"/>
                  </a:cubicBezTo>
                  <a:lnTo>
                    <a:pt x="57556" y="390640"/>
                  </a:lnTo>
                  <a:cubicBezTo>
                    <a:pt x="25769" y="390640"/>
                    <a:pt x="0" y="364871"/>
                    <a:pt x="0" y="333084"/>
                  </a:cubicBezTo>
                  <a:lnTo>
                    <a:pt x="0" y="57556"/>
                  </a:lnTo>
                  <a:cubicBezTo>
                    <a:pt x="0" y="25769"/>
                    <a:pt x="25769" y="0"/>
                    <a:pt x="57556" y="0"/>
                  </a:cubicBezTo>
                  <a:close/>
                </a:path>
              </a:pathLst>
            </a:custGeom>
            <a:solidFill>
              <a:srgbClr val="92B8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542686" cy="409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6238" y="1063371"/>
            <a:ext cx="1540583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Đặt vấn đề &amp; Thách thức kỹ thuật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0538" y="2766816"/>
            <a:ext cx="14884186" cy="530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5"/>
              </a:lnSpc>
              <a:spcBef>
                <a:spcPct val="0"/>
              </a:spcBef>
            </a:pPr>
            <a:r>
              <a:rPr lang="en-US" sz="3500" b="true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Bài toán</a:t>
            </a:r>
            <a:r>
              <a:rPr lang="en-US" b="true" sz="350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IoT Y tế: </a:t>
            </a: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Thiết bị biên đeo tay ghi nhận tín hiệu PPG liên tục ở 125 Hz. Mỗi khối 8 giây = 1.000 mẫu số 16-bit = 2.000 byte tải thô.</a:t>
            </a:r>
          </a:p>
          <a:p>
            <a:pPr algn="l">
              <a:lnSpc>
                <a:spcPts val="528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Nút thắt:</a:t>
            </a: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Băng thông và năng lượng vô tuyến hạn chế; cần nén dữ liệu tại nút cảm biến trước khi truyền về máy chủ.</a:t>
            </a:r>
          </a:p>
          <a:p>
            <a:pPr algn="l">
              <a:lnSpc>
                <a:spcPts val="5285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Nghịch lý tần số:</a:t>
            </a:r>
          </a:p>
          <a:p>
            <a:pPr algn="l" marL="755651" indent="-377825" lvl="1">
              <a:lnSpc>
                <a:spcPts val="5285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Nhịp tim (HR): Nằm ở tần số 0,8 – 3,0 Hz, biên độ lớn (đỉnh tâm thu).</a:t>
            </a:r>
          </a:p>
          <a:p>
            <a:pPr algn="l" marL="755651" indent="-377825" lvl="1">
              <a:lnSpc>
                <a:spcPts val="5285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Nhịp thở (RR): Nằm ở tần số 0,1 – 0,4 Hz, biến thiên chậm (biên độ nhỏ, dễ bị nén san phẳng).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55402" y="9022583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34967"/>
            <a:ext cx="14330794" cy="190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Cơ sở sinh lý: Nhịp tim &amp; Ba cơ chế biến thiên hô hấp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52717"/>
            <a:ext cx="16008027" cy="552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Nhịp</a:t>
            </a: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tim: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Khoảng cách giữa các đỉnh tâm thu kế tiếp xác định chu kỳ tim tức thời.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Ba cơ chế điều hòa quang học của nhịp thở: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RIIV (Intensity): Áp lực lồng ngực làm trôi dạt đường nền quang học.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RIAV (Amplitude): Áp lực đổ đầy tâm thất làm co giãn biên độ đỉnh – đáy.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RIFV (Frequency): Loạn nhịp xoang hô hấp làm thay đổi tần số mạch đập.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Ngữ cảnh phân tích: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Cần tối thiểu 24s – 32s tín hiệu liên tục để quan sát trọn vẹn chu kỳ hô hấp chậm.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666012" y="8803790"/>
            <a:ext cx="13451137" cy="1483210"/>
            <a:chOff x="0" y="0"/>
            <a:chExt cx="3542686" cy="390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42686" cy="390640"/>
            </a:xfrm>
            <a:custGeom>
              <a:avLst/>
              <a:gdLst/>
              <a:ahLst/>
              <a:cxnLst/>
              <a:rect r="r" b="b" t="t" l="l"/>
              <a:pathLst>
                <a:path h="390640" w="3542686">
                  <a:moveTo>
                    <a:pt x="57556" y="0"/>
                  </a:moveTo>
                  <a:lnTo>
                    <a:pt x="3485131" y="0"/>
                  </a:lnTo>
                  <a:cubicBezTo>
                    <a:pt x="3516918" y="0"/>
                    <a:pt x="3542686" y="25769"/>
                    <a:pt x="3542686" y="57556"/>
                  </a:cubicBezTo>
                  <a:lnTo>
                    <a:pt x="3542686" y="333084"/>
                  </a:lnTo>
                  <a:cubicBezTo>
                    <a:pt x="3542686" y="364871"/>
                    <a:pt x="3516918" y="390640"/>
                    <a:pt x="3485131" y="390640"/>
                  </a:cubicBezTo>
                  <a:lnTo>
                    <a:pt x="57556" y="390640"/>
                  </a:lnTo>
                  <a:cubicBezTo>
                    <a:pt x="25769" y="390640"/>
                    <a:pt x="0" y="364871"/>
                    <a:pt x="0" y="333084"/>
                  </a:cubicBezTo>
                  <a:lnTo>
                    <a:pt x="0" y="57556"/>
                  </a:lnTo>
                  <a:cubicBezTo>
                    <a:pt x="0" y="25769"/>
                    <a:pt x="25769" y="0"/>
                    <a:pt x="575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542686" cy="409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55402" y="9022583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5462" y="8833274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908" y="1038225"/>
            <a:ext cx="9785898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Kiến trúc tổng thể hệ thống (Edge-to-Server)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88570" y="574571"/>
            <a:ext cx="8513527" cy="9343417"/>
          </a:xfrm>
          <a:custGeom>
            <a:avLst/>
            <a:gdLst/>
            <a:ahLst/>
            <a:cxnLst/>
            <a:rect r="r" b="b" t="t" l="l"/>
            <a:pathLst>
              <a:path h="9343417" w="8513527">
                <a:moveTo>
                  <a:pt x="0" y="0"/>
                </a:moveTo>
                <a:lnTo>
                  <a:pt x="8513527" y="0"/>
                </a:lnTo>
                <a:lnTo>
                  <a:pt x="8513527" y="9343417"/>
                </a:lnTo>
                <a:lnTo>
                  <a:pt x="0" y="9343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2908" y="3311949"/>
            <a:ext cx="8544401" cy="552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Tại Nút biên (Edge): PPG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125 Hz → Lọc nhân quả 0,05–8 Hz → Chuẩn hóa khối 8s → Bộ mã hóa 1D-CNN →  Lượng tử hóa INT16 → Đóng gói nhị phân CRC-16.</a:t>
            </a:r>
          </a:p>
          <a:p>
            <a:pPr algn="l" marL="755644" indent="-377822" lvl="1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Đườ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 truyền: Truyền gói tin UDP/vô tuyến với kích thước cố định.</a:t>
            </a:r>
          </a:p>
          <a:p>
            <a:pPr algn="l" marL="755644" indent="-377822" lvl="1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Tại Máy chủ (Server): Kiểm tra mã CRC-16 → Giải lượng tử &amp; Giải mã 1D-CNN → Hoàn nguyên biên độ → Ước lượng đồng thuận HR (khối 8s) &amp; RR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(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gữ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cả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499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32s).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792500" y="772027"/>
            <a:ext cx="16220702" cy="1351505"/>
            <a:chOff x="0" y="0"/>
            <a:chExt cx="21627603" cy="180200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481396" cy="1802006"/>
              <a:chOff x="0" y="0"/>
              <a:chExt cx="4243239" cy="35595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243239" cy="355952"/>
              </a:xfrm>
              <a:custGeom>
                <a:avLst/>
                <a:gdLst/>
                <a:ahLst/>
                <a:cxnLst/>
                <a:rect r="r" b="b" t="t" l="l"/>
                <a:pathLst>
                  <a:path h="355952" w="4243239">
                    <a:moveTo>
                      <a:pt x="48053" y="0"/>
                    </a:moveTo>
                    <a:lnTo>
                      <a:pt x="4195185" y="0"/>
                    </a:lnTo>
                    <a:cubicBezTo>
                      <a:pt x="4207930" y="0"/>
                      <a:pt x="4220152" y="5063"/>
                      <a:pt x="4229164" y="14075"/>
                    </a:cubicBezTo>
                    <a:cubicBezTo>
                      <a:pt x="4238176" y="23086"/>
                      <a:pt x="4243239" y="35309"/>
                      <a:pt x="4243239" y="48053"/>
                    </a:cubicBezTo>
                    <a:lnTo>
                      <a:pt x="4243239" y="307898"/>
                    </a:lnTo>
                    <a:cubicBezTo>
                      <a:pt x="4243239" y="320643"/>
                      <a:pt x="4238176" y="332866"/>
                      <a:pt x="4229164" y="341877"/>
                    </a:cubicBezTo>
                    <a:cubicBezTo>
                      <a:pt x="4220152" y="350889"/>
                      <a:pt x="4207930" y="355952"/>
                      <a:pt x="4195185" y="355952"/>
                    </a:cubicBezTo>
                    <a:lnTo>
                      <a:pt x="48053" y="355952"/>
                    </a:lnTo>
                    <a:cubicBezTo>
                      <a:pt x="35309" y="355952"/>
                      <a:pt x="23086" y="350889"/>
                      <a:pt x="14075" y="341877"/>
                    </a:cubicBezTo>
                    <a:cubicBezTo>
                      <a:pt x="5063" y="332866"/>
                      <a:pt x="0" y="320643"/>
                      <a:pt x="0" y="307898"/>
                    </a:cubicBezTo>
                    <a:lnTo>
                      <a:pt x="0" y="48053"/>
                    </a:lnTo>
                    <a:cubicBezTo>
                      <a:pt x="0" y="35309"/>
                      <a:pt x="5063" y="23086"/>
                      <a:pt x="14075" y="14075"/>
                    </a:cubicBezTo>
                    <a:cubicBezTo>
                      <a:pt x="23086" y="5063"/>
                      <a:pt x="35309" y="0"/>
                      <a:pt x="48053" y="0"/>
                    </a:cubicBezTo>
                    <a:close/>
                  </a:path>
                </a:pathLst>
              </a:custGeom>
              <a:solidFill>
                <a:srgbClr val="92B8D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243239" cy="4035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0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919974" y="242681"/>
              <a:ext cx="19707630" cy="1209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Tiền xử lý nhân quả &amp; Chuẩn hóa khối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852717"/>
            <a:ext cx="16008027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Bộ</a:t>
            </a: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lọc Butterworth nhân quả: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Dải thông 0,05 – 8,0 Hz (Bậc thông dải = 4, cấu trúc 2 đoạn bậc hai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nối tiếp SOS), không dùng mẫu tương lai.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Loại bỏ 32s đầu: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Tránh đáp ứng quá độ (tại giây 32, biên độ đáp ứng bước chỉ còn 0,0132% đỉnh).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Chuẩn hóa Z-score khối 8s: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Đưa 1.000 mẫu về phân phối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chuẩn hóa, lưu lại giá trị trung bình và độ lệch chuẩn dưới dạng Float32 để hoàn nguyên dạng sóng.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149643" y="6929585"/>
            <a:ext cx="11766140" cy="2328715"/>
          </a:xfrm>
          <a:custGeom>
            <a:avLst/>
            <a:gdLst/>
            <a:ahLst/>
            <a:cxnLst/>
            <a:rect r="r" b="b" t="t" l="l"/>
            <a:pathLst>
              <a:path h="2328715" w="11766140">
                <a:moveTo>
                  <a:pt x="0" y="0"/>
                </a:moveTo>
                <a:lnTo>
                  <a:pt x="11766140" y="0"/>
                </a:lnTo>
                <a:lnTo>
                  <a:pt x="11766140" y="2328715"/>
                </a:lnTo>
                <a:lnTo>
                  <a:pt x="0" y="2328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36105" y="2515533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3"/>
                </a:lnTo>
                <a:lnTo>
                  <a:pt x="0" y="471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1273" y="2852717"/>
            <a:ext cx="16008027" cy="441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Bộ</a:t>
            </a: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mã hóa biên: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Dùng 3 tầng Conv1D (kích thước nhân 7, bước nhảy 2, tích chập 1×1) thu gọn không gian không gian tín hiệu → Tầng Dense nén thành vector      (115 cho 8× hoặc 52 cho 16,1×).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Lượng tử hóa đối xứng INT16: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Chuyển float32 sang số nguyên có dấu 16-bit [-32767, 32767] bằng hệ số thang a.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Cơ chế STE (Straight-Through Estimator):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Bỏ qua tính đạo hàm bằng 0 của phép làm tròn khi lan truyền ngược, cho phép mạng nơ-ron học tối ưu trực tiếp trên dữ liệu lượng tử hóa.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30980" y="4071109"/>
            <a:ext cx="600490" cy="489288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4355025" y="7345342"/>
            <a:ext cx="14372036" cy="1152943"/>
          </a:xfrm>
          <a:custGeom>
            <a:avLst/>
            <a:gdLst/>
            <a:ahLst/>
            <a:cxnLst/>
            <a:rect r="r" b="b" t="t" l="l"/>
            <a:pathLst>
              <a:path h="1152943" w="14372036">
                <a:moveTo>
                  <a:pt x="0" y="0"/>
                </a:moveTo>
                <a:lnTo>
                  <a:pt x="14372037" y="0"/>
                </a:lnTo>
                <a:lnTo>
                  <a:pt x="14372037" y="1152943"/>
                </a:lnTo>
                <a:lnTo>
                  <a:pt x="0" y="1152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09605" y="8498285"/>
            <a:ext cx="2872958" cy="1379020"/>
          </a:xfrm>
          <a:custGeom>
            <a:avLst/>
            <a:gdLst/>
            <a:ahLst/>
            <a:cxnLst/>
            <a:rect r="r" b="b" t="t" l="l"/>
            <a:pathLst>
              <a:path h="1379020" w="2872958">
                <a:moveTo>
                  <a:pt x="0" y="0"/>
                </a:moveTo>
                <a:lnTo>
                  <a:pt x="2872958" y="0"/>
                </a:lnTo>
                <a:lnTo>
                  <a:pt x="2872958" y="1379020"/>
                </a:lnTo>
                <a:lnTo>
                  <a:pt x="0" y="1379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50387"/>
            <a:ext cx="12950072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Kiến trúc bộ mã hóa nén 1D-CNN &amp; Lượng tử hóa INT16 (STE)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1273" y="7653337"/>
            <a:ext cx="34010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7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Lượ</a:t>
            </a:r>
            <a:r>
              <a:rPr lang="en-US" b="true" sz="2999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ng tử hóa: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273" y="8954433"/>
            <a:ext cx="35202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74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Ước lượ</a:t>
            </a:r>
            <a:r>
              <a:rPr lang="en-US" b="true" sz="2999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ng STE: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779" y="2436866"/>
            <a:ext cx="16772441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Cấu trúc gói tin 20 byte cố định: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18 byte Header: Phiên bản (1B), Cấu hình (1B), Số thứ tự (4B), Trung bình    (4B), Thang s (4B), Hệ số lượng tử a (4B).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Tải trọng nhị phân    : 2 ×      byte (INT16).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2 byte Footer: Mã CRC-16-CCITT (đa thức 0x1021) bảo vệ toàn vẹn dữ liệu.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Tỷ số nén thực tế tầng ứng dụng: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Mức 8× (     = 115): Tổng gói 250 byte → Đạt đúng         = 8.00×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Mức 16.1× (     = 52): Tổng gói 124 byte → Đạt đúng         = 16.13×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36087" y="3247675"/>
            <a:ext cx="329638" cy="35665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266393" y="4026139"/>
            <a:ext cx="454331" cy="40024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11060" y="3914606"/>
            <a:ext cx="600490" cy="48928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26535" y="5347459"/>
            <a:ext cx="600490" cy="48928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820403" y="5182447"/>
            <a:ext cx="959194" cy="81931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90085" y="6306309"/>
            <a:ext cx="600490" cy="489288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071768" y="6131745"/>
            <a:ext cx="981560" cy="838416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6998911" y="7040764"/>
            <a:ext cx="10595776" cy="2902709"/>
          </a:xfrm>
          <a:custGeom>
            <a:avLst/>
            <a:gdLst/>
            <a:ahLst/>
            <a:cxnLst/>
            <a:rect r="r" b="b" t="t" l="l"/>
            <a:pathLst>
              <a:path h="2902709" w="10595776">
                <a:moveTo>
                  <a:pt x="0" y="0"/>
                </a:moveTo>
                <a:lnTo>
                  <a:pt x="10595776" y="0"/>
                </a:lnTo>
                <a:lnTo>
                  <a:pt x="10595776" y="2902709"/>
                </a:lnTo>
                <a:lnTo>
                  <a:pt x="0" y="29027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12816"/>
            <a:ext cx="11940422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Khung truyền gói tin nhị phân &amp; Tỷ số nén thực tế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2475" y="7113613"/>
            <a:ext cx="5870758" cy="964888"/>
            <a:chOff x="0" y="0"/>
            <a:chExt cx="7827678" cy="12865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558779" y="0"/>
              <a:ext cx="4268898" cy="1286517"/>
            </a:xfrm>
            <a:custGeom>
              <a:avLst/>
              <a:gdLst/>
              <a:ahLst/>
              <a:cxnLst/>
              <a:rect r="r" b="b" t="t" l="l"/>
              <a:pathLst>
                <a:path h="1286517" w="4268898">
                  <a:moveTo>
                    <a:pt x="0" y="0"/>
                  </a:moveTo>
                  <a:lnTo>
                    <a:pt x="4268899" y="0"/>
                  </a:lnTo>
                  <a:lnTo>
                    <a:pt x="4268899" y="1286517"/>
                  </a:lnTo>
                  <a:lnTo>
                    <a:pt x="0" y="1286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51134"/>
              <a:ext cx="3635772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7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242">
                  <a:solidFill>
                    <a:srgbClr val="000000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Công thức: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6350" y="2443142"/>
            <a:ext cx="16008027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Mấ</a:t>
            </a: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 mát tổng hợp cân bằng giữa độ méo hình thái thời gian và bảo toàn cấu trúc phổ tần số.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3000" spc="24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Sai số thời gian</a:t>
            </a: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: Chuẩn hóa cục bộ theo thang      trên từng khối 8s.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3000" spc="24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Ràng buộc phổ</a:t>
            </a: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: Áp dụng biến đổi FFT qua cửa sổ Hann:</a:t>
            </a:r>
          </a:p>
          <a:p>
            <a:pPr algn="l" marL="647703" indent="-323852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Khối 8 giây: Đặt trọng số        = 2.0 trong dải nhịp tim 0,8 – 3,0 Hz.</a:t>
            </a:r>
          </a:p>
          <a:p>
            <a:pPr algn="l" marL="647703" indent="-323852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Ngữ cảnh 32 giây (ghép 4 khối): Đặt trọng số        = 4.0 trong dải nhịp thở 0,1 – 0,4 Hz.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09179" y="4448131"/>
            <a:ext cx="871151" cy="46082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6667" y="4916243"/>
            <a:ext cx="833275" cy="45451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72313" y="3550453"/>
            <a:ext cx="441888" cy="389283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3882115" y="5574399"/>
            <a:ext cx="10523771" cy="4457986"/>
          </a:xfrm>
          <a:custGeom>
            <a:avLst/>
            <a:gdLst/>
            <a:ahLst/>
            <a:cxnLst/>
            <a:rect r="r" b="b" t="t" l="l"/>
            <a:pathLst>
              <a:path h="4457986" w="10523771">
                <a:moveTo>
                  <a:pt x="0" y="0"/>
                </a:moveTo>
                <a:lnTo>
                  <a:pt x="10523770" y="0"/>
                </a:lnTo>
                <a:lnTo>
                  <a:pt x="10523770" y="4457986"/>
                </a:lnTo>
                <a:lnTo>
                  <a:pt x="0" y="44579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8739" y="1053846"/>
            <a:ext cx="1699052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Hàm mất mát đa thang phổ thời gian &amp; Tần số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8739" y="1343004"/>
            <a:ext cx="1699052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 Thuật toán ước lượng chỉ số sinh lý HR &amp; RR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79791"/>
            <a:ext cx="16772441" cy="496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Ướ</a:t>
            </a: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c lượng nhịp tim (HR) trên khối 8s: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Tìm đỉnh tâm thu hợp lệ (khoảng cách     210 bpm, độ nổi     0,3s), tính qua trung vị khoảng cách đỉnh HR = 60 / median (      ).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Ước lượng nhịp thở (RR) đồng thuận trên ngữ cảnh 32s: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AutoNum type="arabicPeriod" startAt="1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Trích xuất đồng thời 2 chuỗi đặc trưng: RIIV (trôi nền) và RIAV (biến thiên biên độ đỉnh-đáy).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AutoNum type="arabicPeriod" startAt="1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Nội suy tuyến tính 4 Hz, phân tích phổ Welch trong dải 0,1 – 0,7 Hz.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AutoNum type="arabicPeriod" startAt="1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Quy tắc đồng thuận: Chỉ chấp nhận kết quả nếu thời lượng hữu dụng       24s và chênh lệch giữa                                             brpm.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61621" y="3638550"/>
            <a:ext cx="457200" cy="45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14521" y="3638550"/>
            <a:ext cx="457200" cy="45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39359" y="4173631"/>
            <a:ext cx="726142" cy="48409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9146" y="7515225"/>
            <a:ext cx="457200" cy="45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17447" y="6973630"/>
            <a:ext cx="6441631" cy="1540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36379" y="-1075040"/>
            <a:ext cx="7976162" cy="11788931"/>
            <a:chOff x="0" y="0"/>
            <a:chExt cx="2100718" cy="3104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0718" cy="3104904"/>
            </a:xfrm>
            <a:custGeom>
              <a:avLst/>
              <a:gdLst/>
              <a:ahLst/>
              <a:cxnLst/>
              <a:rect r="r" b="b" t="t" l="l"/>
              <a:pathLst>
                <a:path h="3104904" w="2100718">
                  <a:moveTo>
                    <a:pt x="0" y="0"/>
                  </a:moveTo>
                  <a:lnTo>
                    <a:pt x="2100718" y="0"/>
                  </a:lnTo>
                  <a:lnTo>
                    <a:pt x="2100718" y="3104904"/>
                  </a:lnTo>
                  <a:lnTo>
                    <a:pt x="0" y="3104904"/>
                  </a:lnTo>
                  <a:close/>
                </a:path>
              </a:pathLst>
            </a:custGeom>
            <a:solidFill>
              <a:srgbClr val="92B8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0718" cy="3143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9216" y="8786866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23459" y="6887438"/>
            <a:ext cx="4917148" cy="1331521"/>
          </a:xfrm>
          <a:custGeom>
            <a:avLst/>
            <a:gdLst/>
            <a:ahLst/>
            <a:cxnLst/>
            <a:rect r="r" b="b" t="t" l="l"/>
            <a:pathLst>
              <a:path h="1331521" w="4917148">
                <a:moveTo>
                  <a:pt x="0" y="0"/>
                </a:moveTo>
                <a:lnTo>
                  <a:pt x="4917148" y="0"/>
                </a:lnTo>
                <a:lnTo>
                  <a:pt x="4917148" y="1331521"/>
                </a:lnTo>
                <a:lnTo>
                  <a:pt x="0" y="133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454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51406" y="8286810"/>
            <a:ext cx="8254026" cy="1350659"/>
          </a:xfrm>
          <a:custGeom>
            <a:avLst/>
            <a:gdLst/>
            <a:ahLst/>
            <a:cxnLst/>
            <a:rect r="r" b="b" t="t" l="l"/>
            <a:pathLst>
              <a:path h="1350659" w="8254026">
                <a:moveTo>
                  <a:pt x="0" y="0"/>
                </a:moveTo>
                <a:lnTo>
                  <a:pt x="8254026" y="0"/>
                </a:lnTo>
                <a:lnTo>
                  <a:pt x="8254026" y="1350658"/>
                </a:lnTo>
                <a:lnTo>
                  <a:pt x="0" y="13506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00534" y="1855010"/>
            <a:ext cx="5658766" cy="654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Đánh giá chất lượng phục hồi dạng sóng (Waveform Fidelity)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5414" y="1028679"/>
            <a:ext cx="10009691" cy="552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Thử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nghiệm trên tập kiểm thử độc lập gồm 10 đối tượng (13 bản ghi, 182 ngữ cảnh 32s = 728 khối 8s) từ tập dữ liệu chuẩn y tế BIDMC.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So sánh chất lượng ở mức 8×: Mô hình đề xuất đạt PRDc = 1,84% và SNRc = 35,30 dB, vượt trội hơn hẳn DCT-1D (2,85%, 31,79 dB) và Autoencoder MSE (1,93%, 34,79 dB).</a:t>
            </a:r>
          </a:p>
          <a:p>
            <a:pPr algn="l" marL="755651" indent="-377825" lvl="1">
              <a:lnSpc>
                <a:spcPts val="437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So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sánh ở mức 16,1×: PRDc đạt 12,28% (tốt hơn DCT 20,10%).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8024" y="4351546"/>
            <a:ext cx="8606479" cy="3867826"/>
          </a:xfrm>
          <a:custGeom>
            <a:avLst/>
            <a:gdLst/>
            <a:ahLst/>
            <a:cxnLst/>
            <a:rect r="r" b="b" t="t" l="l"/>
            <a:pathLst>
              <a:path h="3867826" w="8606479">
                <a:moveTo>
                  <a:pt x="0" y="0"/>
                </a:moveTo>
                <a:lnTo>
                  <a:pt x="8606479" y="0"/>
                </a:lnTo>
                <a:lnTo>
                  <a:pt x="8606479" y="3867826"/>
                </a:lnTo>
                <a:lnTo>
                  <a:pt x="0" y="3867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647" y="2021392"/>
            <a:ext cx="9886103" cy="7523386"/>
          </a:xfrm>
          <a:custGeom>
            <a:avLst/>
            <a:gdLst/>
            <a:ahLst/>
            <a:cxnLst/>
            <a:rect r="r" b="b" t="t" l="l"/>
            <a:pathLst>
              <a:path h="7523386" w="9886103">
                <a:moveTo>
                  <a:pt x="0" y="0"/>
                </a:moveTo>
                <a:lnTo>
                  <a:pt x="9886103" y="0"/>
                </a:lnTo>
                <a:lnTo>
                  <a:pt x="9886103" y="7523387"/>
                </a:lnTo>
                <a:lnTo>
                  <a:pt x="0" y="7523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5367" y="904875"/>
            <a:ext cx="16936366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Đánh giá chất lượng phục hồi dạng sóng (Waveform Fidelity)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36379" y="-1075040"/>
            <a:ext cx="7976162" cy="11788931"/>
            <a:chOff x="0" y="0"/>
            <a:chExt cx="2100718" cy="31049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0718" cy="3104904"/>
            </a:xfrm>
            <a:custGeom>
              <a:avLst/>
              <a:gdLst/>
              <a:ahLst/>
              <a:cxnLst/>
              <a:rect r="r" b="b" t="t" l="l"/>
              <a:pathLst>
                <a:path h="3104904" w="2100718">
                  <a:moveTo>
                    <a:pt x="0" y="0"/>
                  </a:moveTo>
                  <a:lnTo>
                    <a:pt x="2100718" y="0"/>
                  </a:lnTo>
                  <a:lnTo>
                    <a:pt x="2100718" y="3104904"/>
                  </a:lnTo>
                  <a:lnTo>
                    <a:pt x="0" y="3104904"/>
                  </a:lnTo>
                  <a:close/>
                </a:path>
              </a:pathLst>
            </a:custGeom>
            <a:solidFill>
              <a:srgbClr val="92B8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0718" cy="3143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9216" y="8786866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05334" y="1855010"/>
            <a:ext cx="5353966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Đánh giá sai số sinh lý (HR, RR) &amp; Bóc tách mô hình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1816910"/>
            <a:ext cx="10009691" cy="60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Bảo</a:t>
            </a: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 toàn nhịp tim (HR): 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Cực kỳ xuất sắc. Chênh lệch sai số ghép cặp    MAE-HR giữa tín hiệu nén đề xuất và tín hiệu gốc chỉ là 0,04 bpm (ở mức 8×) và 0,31 bpm (ở mức 16,1×).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Khảo sát nhịp thở (RR):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MAE-RR đạt ~6,69 brpm, tương đương với tín hiệu gốc chưa nén (6,68 brpm).</a:t>
            </a:r>
          </a:p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b="true" sz="3500" spc="283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Phân tích bóc tách (Ablation Study): </a:t>
            </a:r>
            <a:r>
              <a:rPr lang="en-US" sz="3500" spc="283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Việc bổ sung ràng buộc phổ (      =2,      =4) giúp giảm độ méo PRDc từ 2,04% (phổ đều) xuống 1,84%.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52305" y="2413680"/>
            <a:ext cx="525242" cy="46271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97920" y="6924605"/>
            <a:ext cx="871151" cy="460827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59989" y="6927761"/>
            <a:ext cx="833275" cy="4545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1978" y="2205490"/>
            <a:ext cx="8746799" cy="7517638"/>
          </a:xfrm>
          <a:custGeom>
            <a:avLst/>
            <a:gdLst/>
            <a:ahLst/>
            <a:cxnLst/>
            <a:rect r="r" b="b" t="t" l="l"/>
            <a:pathLst>
              <a:path h="7517638" w="8746799">
                <a:moveTo>
                  <a:pt x="0" y="0"/>
                </a:moveTo>
                <a:lnTo>
                  <a:pt x="8746799" y="0"/>
                </a:lnTo>
                <a:lnTo>
                  <a:pt x="8746799" y="7517638"/>
                </a:lnTo>
                <a:lnTo>
                  <a:pt x="0" y="751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5615" y="3892853"/>
            <a:ext cx="9243505" cy="3803317"/>
          </a:xfrm>
          <a:custGeom>
            <a:avLst/>
            <a:gdLst/>
            <a:ahLst/>
            <a:cxnLst/>
            <a:rect r="r" b="b" t="t" l="l"/>
            <a:pathLst>
              <a:path h="3803317" w="9243505">
                <a:moveTo>
                  <a:pt x="0" y="0"/>
                </a:moveTo>
                <a:lnTo>
                  <a:pt x="9243504" y="0"/>
                </a:lnTo>
                <a:lnTo>
                  <a:pt x="9243504" y="3803317"/>
                </a:lnTo>
                <a:lnTo>
                  <a:pt x="0" y="3803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04767" y="695325"/>
            <a:ext cx="13393066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00"/>
              </a:lnSpc>
            </a:pPr>
            <a:r>
              <a:rPr lang="en-US" sz="60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Đánh giá sai số sinh lý (HR, RR) &amp; Bóc tách mô hình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9800" y="-575753"/>
            <a:ext cx="18714303" cy="11289644"/>
            <a:chOff x="0" y="0"/>
            <a:chExt cx="4928870" cy="297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8870" cy="2973404"/>
            </a:xfrm>
            <a:custGeom>
              <a:avLst/>
              <a:gdLst/>
              <a:ahLst/>
              <a:cxnLst/>
              <a:rect r="r" b="b" t="t" l="l"/>
              <a:pathLst>
                <a:path h="2973404" w="4928870">
                  <a:moveTo>
                    <a:pt x="0" y="0"/>
                  </a:moveTo>
                  <a:lnTo>
                    <a:pt x="4928870" y="0"/>
                  </a:lnTo>
                  <a:lnTo>
                    <a:pt x="4928870" y="2973404"/>
                  </a:lnTo>
                  <a:lnTo>
                    <a:pt x="0" y="29734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8870" cy="3011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99699" y="266502"/>
            <a:ext cx="809921" cy="766387"/>
          </a:xfrm>
          <a:custGeom>
            <a:avLst/>
            <a:gdLst/>
            <a:ahLst/>
            <a:cxnLst/>
            <a:rect r="r" b="b" t="t" l="l"/>
            <a:pathLst>
              <a:path h="766387" w="809921">
                <a:moveTo>
                  <a:pt x="0" y="0"/>
                </a:moveTo>
                <a:lnTo>
                  <a:pt x="809920" y="0"/>
                </a:lnTo>
                <a:lnTo>
                  <a:pt x="809920" y="766388"/>
                </a:lnTo>
                <a:lnTo>
                  <a:pt x="0" y="76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9087" y="2321549"/>
            <a:ext cx="15203981" cy="406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  <a:spcBef>
                <a:spcPct val="0"/>
              </a:spcBef>
            </a:pPr>
            <a:r>
              <a:rPr lang="en-US" b="true" sz="2849" spc="23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Độ bền gói </a:t>
            </a:r>
            <a:r>
              <a:rPr lang="en-US" b="true" sz="2849" spc="23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tin: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10.000 phép thử lật 1-bit ngẫu nhiên trên gói 250 byte → Mã CRC-16 phát hiện lỗi đạt 100,00%.</a:t>
            </a:r>
          </a:p>
          <a:p>
            <a:pPr algn="l">
              <a:lnSpc>
                <a:spcPts val="3561"/>
              </a:lnSpc>
              <a:spcBef>
                <a:spcPct val="0"/>
              </a:spcBef>
            </a:pPr>
            <a:r>
              <a:rPr lang="en-US" b="true" sz="2849" spc="23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Độ trễ tính toán biên (Đo tham chiếu CPU PC):</a:t>
            </a:r>
          </a:p>
          <a:p>
            <a:pPr algn="l" marL="615171" indent="-307585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Tổng thời gian xử lý khối 8s: 0,786 ms (mức 8×) và 0,723 ms (mức 16,1×)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     thời gian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chu kỳ thu thập (8.000 ms) → Hoàn toàn khả t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h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i về mặt thuật toán.</a:t>
            </a:r>
          </a:p>
          <a:p>
            <a:pPr algn="l" marL="615171" indent="-307585" lvl="1">
              <a:lnSpc>
                <a:spcPts val="3561"/>
              </a:lnSpc>
              <a:spcBef>
                <a:spcPct val="0"/>
              </a:spcBef>
              <a:buFont typeface="Arial"/>
              <a:buChar char="•"/>
            </a:pP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Kích thước trọng số mô hình: 127,5 KiB (8×) và 65,7 KiB (16,1×)     ngân sách nhúng 256 KiB.</a:t>
            </a:r>
          </a:p>
          <a:p>
            <a:pPr algn="l">
              <a:lnSpc>
                <a:spcPts val="3561"/>
              </a:lnSpc>
              <a:spcBef>
                <a:spcPct val="0"/>
              </a:spcBef>
            </a:pPr>
            <a:r>
              <a:rPr lang="en-US" b="true" sz="2849" spc="230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Sai lệch biên tại điểm nối khối: </a:t>
            </a:r>
            <a:r>
              <a:rPr lang="en-US" sz="2849" spc="230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Sai lệch bước nhảy biên độ tại 3 điểm nối trong ngữ cảnh 32s chỉ ở mức 0,0140 (tốt hơn nhiều so với DCT 0,0469).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19314" y="3706562"/>
            <a:ext cx="624128" cy="429088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70862" y="4634956"/>
            <a:ext cx="488515" cy="488515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4730729" y="6441093"/>
            <a:ext cx="9300717" cy="3826857"/>
          </a:xfrm>
          <a:custGeom>
            <a:avLst/>
            <a:gdLst/>
            <a:ahLst/>
            <a:cxnLst/>
            <a:rect r="r" b="b" t="t" l="l"/>
            <a:pathLst>
              <a:path h="3826857" w="9300717">
                <a:moveTo>
                  <a:pt x="0" y="0"/>
                </a:moveTo>
                <a:lnTo>
                  <a:pt x="9300716" y="0"/>
                </a:lnTo>
                <a:lnTo>
                  <a:pt x="9300716" y="3826857"/>
                </a:lnTo>
                <a:lnTo>
                  <a:pt x="0" y="3826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87824"/>
            <a:ext cx="16137128" cy="1691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3"/>
              </a:lnSpc>
            </a:pPr>
            <a:r>
              <a:rPr lang="en-US" sz="5698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Đánh giá hiệu năng CPU, Kiểm thử CRC-16 &amp; Điểm nối khối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55402" y="8786866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92500" y="524377"/>
            <a:ext cx="16468352" cy="1965567"/>
            <a:chOff x="0" y="0"/>
            <a:chExt cx="21957803" cy="262075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1481396" cy="2620756"/>
              <a:chOff x="0" y="0"/>
              <a:chExt cx="4243239" cy="51768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243239" cy="517680"/>
              </a:xfrm>
              <a:custGeom>
                <a:avLst/>
                <a:gdLst/>
                <a:ahLst/>
                <a:cxnLst/>
                <a:rect r="r" b="b" t="t" l="l"/>
                <a:pathLst>
                  <a:path h="517680" w="4243239">
                    <a:moveTo>
                      <a:pt x="48053" y="0"/>
                    </a:moveTo>
                    <a:lnTo>
                      <a:pt x="4195185" y="0"/>
                    </a:lnTo>
                    <a:cubicBezTo>
                      <a:pt x="4207930" y="0"/>
                      <a:pt x="4220152" y="5063"/>
                      <a:pt x="4229164" y="14075"/>
                    </a:cubicBezTo>
                    <a:cubicBezTo>
                      <a:pt x="4238176" y="23086"/>
                      <a:pt x="4243239" y="35309"/>
                      <a:pt x="4243239" y="48053"/>
                    </a:cubicBezTo>
                    <a:lnTo>
                      <a:pt x="4243239" y="469627"/>
                    </a:lnTo>
                    <a:cubicBezTo>
                      <a:pt x="4243239" y="496166"/>
                      <a:pt x="4221724" y="517680"/>
                      <a:pt x="4195185" y="517680"/>
                    </a:cubicBezTo>
                    <a:lnTo>
                      <a:pt x="48053" y="517680"/>
                    </a:lnTo>
                    <a:cubicBezTo>
                      <a:pt x="35309" y="517680"/>
                      <a:pt x="23086" y="512617"/>
                      <a:pt x="14075" y="503606"/>
                    </a:cubicBezTo>
                    <a:cubicBezTo>
                      <a:pt x="5063" y="494594"/>
                      <a:pt x="0" y="482371"/>
                      <a:pt x="0" y="469627"/>
                    </a:cubicBezTo>
                    <a:lnTo>
                      <a:pt x="0" y="48053"/>
                    </a:lnTo>
                    <a:cubicBezTo>
                      <a:pt x="0" y="35309"/>
                      <a:pt x="5063" y="23086"/>
                      <a:pt x="14075" y="14075"/>
                    </a:cubicBezTo>
                    <a:cubicBezTo>
                      <a:pt x="23086" y="5063"/>
                      <a:pt x="35309" y="0"/>
                      <a:pt x="4805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243239" cy="5653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5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919974" y="126103"/>
              <a:ext cx="20037830" cy="2378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Bàn luận chuyên sâu, Giới hạn đề tài &amp; Hướng phát triển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35237" y="3007349"/>
            <a:ext cx="15203981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3000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Tính </a:t>
            </a:r>
            <a:r>
              <a:rPr lang="en-US" b="true" sz="3000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trung thực khoa học:</a:t>
            </a:r>
          </a:p>
          <a:p>
            <a:pPr algn="l" marL="647700" indent="-323850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Sai số nhịp thở MAE-RR (~6,7 brpm) và độ bao phủ (&lt;50%) chưa đạt mốc kỳ vọng (     1.5 brpm). Phân tích chỉ ra giới hạn nằm ở chính bộ ước lượng phổ Welch truyền thống từ RIIV/RIAV.</a:t>
            </a:r>
          </a:p>
          <a:p>
            <a:pPr algn="l" marL="647700" indent="-323850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Các phép đo tài nguyên mới thực hiện trên CPU PC x86-64, chưa đo đạc dòng tiêu thụ/pin và RAM động thực tế trên chip nhúng ARM Cortex-M4.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3000" spc="2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Hướng phát triển tương lai:</a:t>
            </a:r>
          </a:p>
          <a:p>
            <a:pPr algn="l" marL="647700" indent="-323850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Tích hợp thêm cảm biến gia tốc kế (IMU) để lọc nhiễu chuyển động tại biên.</a:t>
            </a:r>
          </a:p>
          <a:p>
            <a:pPr algn="l" marL="647700" indent="-323850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Ứng dụng biến đổi Sóng con (Wavelet) hoặc Hilbert-Huang cho biến thiên nhịp thở phi tĩnh.</a:t>
            </a:r>
          </a:p>
          <a:p>
            <a:pPr algn="l" marL="647700" indent="-323850" lvl="1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242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Biên dịch mô hình sang CMSIS-NN / TFLite Micro và đo đạc điện năng thực trên vi điều khiển STM32 / nRF52840.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83887" y="4015831"/>
            <a:ext cx="488515" cy="4885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B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27493" y="1793390"/>
            <a:ext cx="11538437" cy="1483210"/>
            <a:chOff x="0" y="0"/>
            <a:chExt cx="3038930" cy="390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8930" cy="390640"/>
            </a:xfrm>
            <a:custGeom>
              <a:avLst/>
              <a:gdLst/>
              <a:ahLst/>
              <a:cxnLst/>
              <a:rect r="r" b="b" t="t" l="l"/>
              <a:pathLst>
                <a:path h="390640" w="3038930">
                  <a:moveTo>
                    <a:pt x="67097" y="0"/>
                  </a:moveTo>
                  <a:lnTo>
                    <a:pt x="2971833" y="0"/>
                  </a:lnTo>
                  <a:cubicBezTo>
                    <a:pt x="2989628" y="0"/>
                    <a:pt x="3006695" y="7069"/>
                    <a:pt x="3019278" y="19652"/>
                  </a:cubicBezTo>
                  <a:cubicBezTo>
                    <a:pt x="3031861" y="32235"/>
                    <a:pt x="3038930" y="49302"/>
                    <a:pt x="3038930" y="67097"/>
                  </a:cubicBezTo>
                  <a:lnTo>
                    <a:pt x="3038930" y="323543"/>
                  </a:lnTo>
                  <a:cubicBezTo>
                    <a:pt x="3038930" y="360599"/>
                    <a:pt x="3008890" y="390640"/>
                    <a:pt x="2971833" y="390640"/>
                  </a:cubicBezTo>
                  <a:lnTo>
                    <a:pt x="67097" y="390640"/>
                  </a:lnTo>
                  <a:cubicBezTo>
                    <a:pt x="30040" y="390640"/>
                    <a:pt x="0" y="360599"/>
                    <a:pt x="0" y="323543"/>
                  </a:cubicBezTo>
                  <a:lnTo>
                    <a:pt x="0" y="67097"/>
                  </a:lnTo>
                  <a:cubicBezTo>
                    <a:pt x="0" y="30040"/>
                    <a:pt x="30040" y="0"/>
                    <a:pt x="670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038930" cy="409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53114" y="640862"/>
            <a:ext cx="852752" cy="806917"/>
          </a:xfrm>
          <a:custGeom>
            <a:avLst/>
            <a:gdLst/>
            <a:ahLst/>
            <a:cxnLst/>
            <a:rect r="r" b="b" t="t" l="l"/>
            <a:pathLst>
              <a:path h="806917" w="852752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47301" y="8786866"/>
            <a:ext cx="3503898" cy="471434"/>
          </a:xfrm>
          <a:custGeom>
            <a:avLst/>
            <a:gdLst/>
            <a:ahLst/>
            <a:cxnLst/>
            <a:rect r="r" b="b" t="t" l="l"/>
            <a:pathLst>
              <a:path h="471434" w="3503898">
                <a:moveTo>
                  <a:pt x="0" y="0"/>
                </a:moveTo>
                <a:lnTo>
                  <a:pt x="3503899" y="0"/>
                </a:lnTo>
                <a:lnTo>
                  <a:pt x="3503899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24000" y="1987308"/>
            <a:ext cx="772139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Kết luận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9165" y="4311650"/>
            <a:ext cx="14143558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  <a:spcBef>
                <a:spcPct val="0"/>
              </a:spcBef>
            </a:pPr>
            <a:r>
              <a:rPr lang="en-US" sz="4500" spc="364">
                <a:solidFill>
                  <a:srgbClr val="000000"/>
                </a:solidFill>
                <a:latin typeface="Faustina"/>
                <a:ea typeface="Faustina"/>
                <a:cs typeface="Faustina"/>
                <a:sym typeface="Faustina"/>
              </a:rPr>
              <a:t> Xây dựng thành công quy trình nén PPG nhân quả hoàn chỉnh đạt tỷ số nén thực tế 8× và 16,1×, bảo toàn dạng sóng và thông tin nhịp tim rất tốt, có cơ chế đóng gói bảo vệ CRC-16 chuẩn nhúng.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DAHXI4eu-Ec</dc:identifier>
  <dcterms:modified xsi:type="dcterms:W3CDTF">2011-08-01T06:04:30Z</dcterms:modified>
  <cp:revision>1</cp:revision>
  <dc:title>Blue and White Minimalist Corporate Sustainable Business Presentation</dc:title>
</cp:coreProperties>
</file>